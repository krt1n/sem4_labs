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1" r:id="rId8"/>
    <p:sldId id="262" r:id="rId9"/>
    <p:sldId id="260" r:id="rId10"/>
    <p:sldId id="259" r:id="rId11"/>
    <p:sldId id="264" r:id="rId12"/>
    <p:sldId id="263" r:id="rId13"/>
    <p:sldId id="265" r:id="rId14"/>
    <p:sldId id="266" r:id="rId15"/>
    <p:sldId id="270" r:id="rId16"/>
    <p:sldId id="267" r:id="rId17"/>
    <p:sldId id="269" r:id="rId18"/>
    <p:sldId id="268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D62E-237A-3B52-32CF-47504E2BE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344EA-903C-487B-F953-B94675081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7195E-CC50-EB77-0E5C-A4485A10B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1B48C-DCE6-0E33-7403-459CDDF0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0EC43-AD02-A228-F9FD-C1BA402F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90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0C00-FCC2-3F61-4E77-3E3154A16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921FB-44B9-20C3-FEEF-1D2B88CD8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C7FDC-5D97-36D9-6B18-4B994484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D84B-CA5C-603A-64F9-5F689CDD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5DB60-286B-E7E1-4388-3D49E695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5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BB66-ACA3-48B0-8AD4-A4A7741C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85270-4E8E-E46D-AF83-B37B24534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3C841-5CE1-D75A-0EE1-4F75E939D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61AC3-2632-6D91-52BA-4B8F955A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66E8C-052F-EB29-D96C-4FDE07F9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1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64D6-6D9C-40DB-5214-0D4E06D8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B026E-BC5F-3F57-3481-9B860010C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835F7-3CD4-3816-D9D6-C523A6B6B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946F2-492C-6136-E377-A2CCD69D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4DAA-B118-9118-24B0-EF20C8E2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49183-D33D-3389-6300-140DF9C4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4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7C9A-2999-0BEA-B4FC-AE6D46FC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21806-0766-E825-F483-0D8BFE9E6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6FE2C-5484-FC2D-BFF4-D4CDCD211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F2419F-A975-B58E-1E0C-475D70A6D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8BE28-E8E3-F9CB-2DD2-EE36B172D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D0B16-8231-9AA1-29BE-594B843C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06B41-EBA3-F9C6-3FCE-D20AAE48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48CD19-9675-A9C4-2538-3E8F95B5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9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2D8F-375F-039D-A914-9BA28F9A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A048A-4F0B-6E62-5595-7278F657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A92D6-7041-A98D-42A0-CE8E36B2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A3712-BFDB-B425-059C-4B9115D8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42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EDDF4-FCE2-BF01-619B-76EBD19F7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A80296-59B0-01E2-7872-DEE13DE3B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FF532-3EB2-84A2-1548-40C4B4BA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A5A96-99E3-EAC3-CFAE-C319338DD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D7DC7-1099-3E2D-6BC5-B93799853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5A57A-75F9-98B6-9D70-7A644FD2A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87509-2C41-5D6E-0B53-F508FCE8D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A6CC1-634A-3148-1748-BE706703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6C6FE-CBFC-F886-A655-E8B40D49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8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52B75-F8B2-F098-B5AB-3B0959F1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AE2AF-E04F-C7ED-AF53-5A102DAF7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C7656-8CC8-E669-3AC6-AD1D59401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220DC-3EF9-82CC-5DDC-F3763318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C4B8F-126B-D034-E685-BFD973F2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26DBA-BA84-C78D-436B-8C39E8A2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E792A-693B-3C1A-E9A3-887BED8F3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310B9-4C1A-34D8-F724-02D7AE11D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D7235-F0F8-4781-C6E6-F49F7778E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AADE6-89F9-64F7-94C6-D5658CB9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EA7F2-00C6-0F1C-55B5-76DE5E13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13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78C5F3-D6A3-D173-D961-64D00DB2E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DC8B5-29A7-9BC4-0224-DB5625415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817C6-7A3A-671F-8DDC-C9FE2933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8C876-2258-D1A0-7262-3457462F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8866D-D3C0-7294-B591-92A830BA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36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78E98-91DE-2EC3-9377-5A43EF337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CE9A6-D8CF-F9EF-604A-2FAED199A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CDEE9-C4FB-B807-021B-AD63854E4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A1485-EB08-4CC9-BC8C-BCF30EB0DB7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F8474-F24B-244F-1ACD-DD61E9857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820DD-E556-56E1-7D8C-BA84054A8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2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BFFCF-729F-AD2E-70F2-B5594C282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2</a:t>
            </a:r>
          </a:p>
        </p:txBody>
      </p:sp>
    </p:spTree>
    <p:extLst>
      <p:ext uri="{BB962C8B-B14F-4D97-AF65-F5344CB8AC3E}">
        <p14:creationId xmlns:p14="http://schemas.microsoft.com/office/powerpoint/2010/main" val="866657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C87A-3094-9466-0ACF-3FF41EF9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TO BE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C5110-D5BD-A7BA-25DE-27B3DD2F5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 classes (Integer, Double, Character, etc.)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Autoboxing and Unboxing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Enumeration 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 methods and constructors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2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FC36E-E479-5758-6055-BF29566A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DAAA2-40B8-5CDA-1601-79A68DB3A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Wrapper class in Java is one whose object wraps or contains primitive data types. 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create an object in a wrapper class, it contains a field and, in this field, we can store primitive data types.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we can wrap a primitive value into a wrapper class object.</a:t>
            </a:r>
          </a:p>
        </p:txBody>
      </p:sp>
    </p:spTree>
    <p:extLst>
      <p:ext uri="{BB962C8B-B14F-4D97-AF65-F5344CB8AC3E}">
        <p14:creationId xmlns:p14="http://schemas.microsoft.com/office/powerpoint/2010/main" val="45407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E5756-ABA7-9731-A39C-ABFE3ADFB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8A8B-D435-D313-9152-53038675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WRAPPER CLASS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232B2D-FF8A-5CCA-06CF-4FD58F0A2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152" y="1377403"/>
            <a:ext cx="4650499" cy="4347536"/>
          </a:xfrm>
        </p:spPr>
      </p:pic>
    </p:spTree>
    <p:extLst>
      <p:ext uri="{BB962C8B-B14F-4D97-AF65-F5344CB8AC3E}">
        <p14:creationId xmlns:p14="http://schemas.microsoft.com/office/powerpoint/2010/main" val="227708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89A19-1204-9408-84AE-B924CA92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CF35-60F3-CBD9-C4FA-0E4DE65C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WRAPPER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5A554-92C8-BBA9-B819-A5A4FD99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convert primitive data types into objects. Objects are needed if we wish to modify the arguments passed into a method (because primitive types are passed by value).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classes 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handle only objects and hence wrapper classes help in this case.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in the Collection framework, such as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Vector, store only objects (reference types) and not primitive types.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object is needed to support synchronization in multithreading.</a:t>
            </a:r>
          </a:p>
        </p:txBody>
      </p:sp>
    </p:spTree>
    <p:extLst>
      <p:ext uri="{BB962C8B-B14F-4D97-AF65-F5344CB8AC3E}">
        <p14:creationId xmlns:p14="http://schemas.microsoft.com/office/powerpoint/2010/main" val="1798432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63FFED-DA7F-4F37-A542-B1EC95751C58}"/>
              </a:ext>
            </a:extLst>
          </p:cNvPr>
          <p:cNvSpPr txBox="1"/>
          <p:nvPr/>
        </p:nvSpPr>
        <p:spPr>
          <a:xfrm>
            <a:off x="283464" y="197346"/>
            <a:ext cx="100949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wrapperDemo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		// Primitive data type</a:t>
            </a:r>
          </a:p>
          <a:p>
            <a:r>
              <a:rPr lang="en-US" dirty="0"/>
              <a:t>		int b;</a:t>
            </a:r>
          </a:p>
          <a:p>
            <a:endParaRPr lang="en-US" dirty="0"/>
          </a:p>
          <a:p>
            <a:r>
              <a:rPr lang="en-US" dirty="0"/>
              <a:t>		// Integer wrapper class</a:t>
            </a:r>
          </a:p>
          <a:p>
            <a:r>
              <a:rPr lang="en-US" dirty="0"/>
              <a:t>        		Integer a;</a:t>
            </a:r>
          </a:p>
          <a:p>
            <a:endParaRPr lang="en-US" dirty="0"/>
          </a:p>
          <a:p>
            <a:r>
              <a:rPr lang="en-US" dirty="0"/>
              <a:t>		// assigning value to primitive </a:t>
            </a:r>
          </a:p>
          <a:p>
            <a:r>
              <a:rPr lang="en-US" dirty="0"/>
              <a:t>		b = 357;</a:t>
            </a:r>
          </a:p>
          <a:p>
            <a:endParaRPr lang="en-US" dirty="0"/>
          </a:p>
          <a:p>
            <a:r>
              <a:rPr lang="en-US" dirty="0"/>
              <a:t>		// auto-boxing or auto wrapping converting primitive int to Integer object</a:t>
            </a:r>
          </a:p>
          <a:p>
            <a:r>
              <a:rPr lang="en-US" dirty="0"/>
              <a:t>		a = b; </a:t>
            </a:r>
          </a:p>
          <a:p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("The primitive int b is: " + b);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("The Integer object a is: " + a);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53B40-B3B7-B86C-2E48-7C5019836A8E}"/>
              </a:ext>
            </a:extLst>
          </p:cNvPr>
          <p:cNvSpPr txBox="1"/>
          <p:nvPr/>
        </p:nvSpPr>
        <p:spPr>
          <a:xfrm>
            <a:off x="7582662" y="1737803"/>
            <a:ext cx="6094476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1800" b="1" i="0" dirty="0">
                <a:effectLst/>
                <a:latin typeface="Consolas" panose="020B0609020204030204" pitchFamily="49" charset="0"/>
              </a:rPr>
              <a:t>OUTPUT: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sz="1800" b="0" i="0" dirty="0">
                <a:effectLst/>
                <a:latin typeface="Consolas" panose="020B0609020204030204" pitchFamily="49" charset="0"/>
              </a:rPr>
              <a:t>The primitive int b is: 357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sz="1800" b="0" i="0" dirty="0">
                <a:effectLst/>
                <a:latin typeface="Consolas" panose="020B0609020204030204" pitchFamily="49" charset="0"/>
              </a:rPr>
              <a:t>The Integer object a is: 357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0ECF2-02A2-F810-B003-D671E482BCDC}"/>
              </a:ext>
            </a:extLst>
          </p:cNvPr>
          <p:cNvSpPr txBox="1"/>
          <p:nvPr/>
        </p:nvSpPr>
        <p:spPr>
          <a:xfrm>
            <a:off x="7221855" y="44625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30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0629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EA94-4FFA-8DAC-75C3-A5A88792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AUTOBOXING AND UNBOXING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1FB0E-03B9-85EE-CA2C-9B1B653D3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Autoboxing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automatic conversion of primitive types to the object of their corresponding wrapper classes is known as autoboxing.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example: conversion of int to Integer, long to Long, double to Double, etc. </a:t>
            </a:r>
          </a:p>
        </p:txBody>
      </p:sp>
    </p:spTree>
    <p:extLst>
      <p:ext uri="{BB962C8B-B14F-4D97-AF65-F5344CB8AC3E}">
        <p14:creationId xmlns:p14="http://schemas.microsoft.com/office/powerpoint/2010/main" val="393744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3831-7D9D-92B5-82E3-2172F298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4FAC-B38D-1386-BF93-3EDBC5E3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AUTOBOXING AND UNBOXING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94533-23B0-D5D6-16FF-694369915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Unboxing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just the reverse process of autoboxing. Automatically converting an object of a wrapper class to its corresponding primitive type is known as unboxing.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conversion of Integer to int, Long to long, Double to double, etc. </a:t>
            </a:r>
          </a:p>
        </p:txBody>
      </p:sp>
    </p:spTree>
    <p:extLst>
      <p:ext uri="{BB962C8B-B14F-4D97-AF65-F5344CB8AC3E}">
        <p14:creationId xmlns:p14="http://schemas.microsoft.com/office/powerpoint/2010/main" val="2888094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99A257-4A89-4A0A-95EC-9E39FECCC354}"/>
              </a:ext>
            </a:extLst>
          </p:cNvPr>
          <p:cNvSpPr txBox="1"/>
          <p:nvPr/>
        </p:nvSpPr>
        <p:spPr>
          <a:xfrm>
            <a:off x="102870" y="205200"/>
            <a:ext cx="6094476" cy="644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AutoBoxingUnboxingDemo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{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args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{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// Autoboxing: primitive to wrapper object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int num = 50;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Integer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intObj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num;   // Autoboxing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("Autoboxing Example:");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("Primitive value : " + num);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("Wrapper object  : " +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intObj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// Unboxing: wrapper object to primitive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Integer obj = 100;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int value = obj;       // Unboxing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("\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nUnboxing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Example:");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("Wrapper object  : " + obj);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("Primitive value : " + value);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 marL="45720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DC0080-13C4-812F-056D-6BCDCF917955}"/>
              </a:ext>
            </a:extLst>
          </p:cNvPr>
          <p:cNvSpPr txBox="1"/>
          <p:nvPr/>
        </p:nvSpPr>
        <p:spPr>
          <a:xfrm>
            <a:off x="7518654" y="1992304"/>
            <a:ext cx="6094476" cy="2625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Autoboxing Example: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Primitive value : 50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Wrapper object  : 50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Unboxing Example: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Wrapper object  : 100</a:t>
            </a:r>
          </a:p>
          <a:p>
            <a:pPr marL="45720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Primitive value : 100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3E0A-1214-E86F-1B37-71E45259A230}"/>
              </a:ext>
            </a:extLst>
          </p:cNvPr>
          <p:cNvSpPr txBox="1"/>
          <p:nvPr/>
        </p:nvSpPr>
        <p:spPr>
          <a:xfrm>
            <a:off x="7221855" y="44625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30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596003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F8C7-47F1-F6A3-46F7-2B158CFA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FAA0-83D8-34BA-3EA2-3E4BDED5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92D80-8160-340D-2E46-3E1556B5D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Java, enumerations 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a special type used to define a group of named constants.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Enums help in readability, maintainability, and type safety in programs by assigning meaningful names to integer values.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useful when we have a small set of possible values for an item like directions, days of week, etc.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</a:p>
          <a:p>
            <a:pPr marL="0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EnumName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Constant 1, Constant 2, …, Constant n</a:t>
            </a:r>
          </a:p>
          <a:p>
            <a:pPr marL="0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	         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B8A9F4-2696-49ED-9863-287C48C1AF9B}"/>
              </a:ext>
            </a:extLst>
          </p:cNvPr>
          <p:cNvSpPr/>
          <p:nvPr/>
        </p:nvSpPr>
        <p:spPr>
          <a:xfrm>
            <a:off x="2587752" y="4498848"/>
            <a:ext cx="7580376" cy="1508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60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E7E1DA-947F-FB7B-7D42-156BE5683F83}"/>
              </a:ext>
            </a:extLst>
          </p:cNvPr>
          <p:cNvSpPr txBox="1"/>
          <p:nvPr/>
        </p:nvSpPr>
        <p:spPr>
          <a:xfrm>
            <a:off x="843534" y="815584"/>
            <a:ext cx="6094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TrafficLight</a:t>
            </a:r>
            <a:r>
              <a:rPr lang="en-US" dirty="0"/>
              <a:t> {</a:t>
            </a:r>
          </a:p>
          <a:p>
            <a:r>
              <a:rPr lang="en-US" dirty="0"/>
              <a:t>    RED, GREEN, YELLOW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Test{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</a:t>
            </a:r>
            <a:r>
              <a:rPr lang="en-US" dirty="0" err="1"/>
              <a:t>TrafficLight</a:t>
            </a:r>
            <a:r>
              <a:rPr lang="en-US" dirty="0"/>
              <a:t> x = </a:t>
            </a:r>
            <a:r>
              <a:rPr lang="en-US" dirty="0" err="1"/>
              <a:t>TrafficLight.RED</a:t>
            </a:r>
            <a:r>
              <a:rPr lang="en-US" dirty="0"/>
              <a:t>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(x);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A8721-123E-C3CF-BF74-B10DA00FF793}"/>
              </a:ext>
            </a:extLst>
          </p:cNvPr>
          <p:cNvSpPr txBox="1"/>
          <p:nvPr/>
        </p:nvSpPr>
        <p:spPr>
          <a:xfrm>
            <a:off x="7627239" y="1774821"/>
            <a:ext cx="6094476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1800" b="0" i="0" dirty="0">
                <a:effectLst/>
                <a:latin typeface="Consolas" panose="020B0609020204030204" pitchFamily="49" charset="0"/>
              </a:rPr>
              <a:t>OUTPUT: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sz="1800" b="0" i="0" dirty="0">
                <a:effectLst/>
                <a:latin typeface="Consolas" panose="020B0609020204030204" pitchFamily="49" charset="0"/>
              </a:rPr>
              <a:t>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FA7D9D-393E-53A5-FF55-CA2AEDCF389F}"/>
              </a:ext>
            </a:extLst>
          </p:cNvPr>
          <p:cNvSpPr txBox="1"/>
          <p:nvPr/>
        </p:nvSpPr>
        <p:spPr>
          <a:xfrm>
            <a:off x="7221855" y="44625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30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035329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39EF8-4A67-13BD-8AE8-8EBF24B1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2" y="95439"/>
            <a:ext cx="10515600" cy="1325563"/>
          </a:xfrm>
        </p:spPr>
        <p:txBody>
          <a:bodyPr/>
          <a:lstStyle/>
          <a:p>
            <a:r>
              <a:rPr lang="en-US" b="1" dirty="0"/>
              <a:t>Enum with switch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46815-683B-1C42-FEA7-4B669BD23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83E07-C874-963D-51CC-394F246A640E}"/>
              </a:ext>
            </a:extLst>
          </p:cNvPr>
          <p:cNvSpPr txBox="1"/>
          <p:nvPr/>
        </p:nvSpPr>
        <p:spPr>
          <a:xfrm>
            <a:off x="459486" y="1492883"/>
            <a:ext cx="60944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//import java.io.*;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enumDemo</a:t>
            </a:r>
            <a:r>
              <a:rPr lang="en-US" dirty="0"/>
              <a:t>{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Enum Declared</a:t>
            </a:r>
          </a:p>
          <a:p>
            <a:r>
              <a:rPr lang="en-US" dirty="0"/>
              <a:t>    </a:t>
            </a:r>
            <a:r>
              <a:rPr lang="en-US" dirty="0" err="1"/>
              <a:t>enum</a:t>
            </a:r>
            <a:r>
              <a:rPr lang="en-US" dirty="0"/>
              <a:t> Color {</a:t>
            </a:r>
          </a:p>
          <a:p>
            <a:r>
              <a:rPr lang="en-US" dirty="0"/>
              <a:t>        RED,</a:t>
            </a:r>
          </a:p>
          <a:p>
            <a:r>
              <a:rPr lang="en-US" dirty="0"/>
              <a:t>        GREEN,</a:t>
            </a:r>
          </a:p>
          <a:p>
            <a:r>
              <a:rPr lang="en-US" dirty="0"/>
              <a:t>        BLUE,</a:t>
            </a:r>
          </a:p>
          <a:p>
            <a:r>
              <a:rPr lang="en-US" dirty="0"/>
              <a:t>        YELLOW;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855FF-7A0D-2E20-C144-88959C47E409}"/>
              </a:ext>
            </a:extLst>
          </p:cNvPr>
          <p:cNvSpPr txBox="1"/>
          <p:nvPr/>
        </p:nvSpPr>
        <p:spPr>
          <a:xfrm>
            <a:off x="5991606" y="1225689"/>
            <a:ext cx="60944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Color var_1 = </a:t>
            </a:r>
            <a:r>
              <a:rPr lang="en-US" dirty="0" err="1"/>
              <a:t>Color.YELLOW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 // Switch case with Enum</a:t>
            </a:r>
          </a:p>
          <a:p>
            <a:r>
              <a:rPr lang="en-US" dirty="0"/>
              <a:t>        switch (var_1) {</a:t>
            </a:r>
          </a:p>
          <a:p>
            <a:r>
              <a:rPr lang="en-US" dirty="0"/>
              <a:t>        case RED: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("Red color");</a:t>
            </a:r>
          </a:p>
          <a:p>
            <a:r>
              <a:rPr lang="en-US" dirty="0"/>
              <a:t>            break;</a:t>
            </a:r>
          </a:p>
          <a:p>
            <a:r>
              <a:rPr lang="en-US" dirty="0"/>
              <a:t>        case GREEN: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("Green color");</a:t>
            </a:r>
          </a:p>
          <a:p>
            <a:r>
              <a:rPr lang="en-US" dirty="0"/>
              <a:t>            break;</a:t>
            </a:r>
          </a:p>
          <a:p>
            <a:r>
              <a:rPr lang="en-US" dirty="0"/>
              <a:t>        case BLUE: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("Blue color");</a:t>
            </a:r>
          </a:p>
          <a:p>
            <a:r>
              <a:rPr lang="en-US" dirty="0"/>
              <a:t>            break;</a:t>
            </a:r>
          </a:p>
          <a:p>
            <a:r>
              <a:rPr lang="en-US" dirty="0"/>
              <a:t>        default: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("Other color");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2370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07AA-C236-F0BA-F4D9-A2B59E6D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9093-BA2C-3B7A-5E5E-95EC5D264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Enum methods and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4F31E-789E-77E8-4E1B-B15E53CA6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Enums can have constructors and methods, executed separately for each constant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also have a constructor just like a class.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constructor is called automatically when the constants are created. You cannot call it yourself.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each constant in the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value (a string) that is set through the constructor</a:t>
            </a: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021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9299E-6FFD-4109-2BAE-710D7A4A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FF9F2-9C6A-258C-969D-8B046890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fontAlgn="base"/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Enumerations methods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985B61-66D6-BD94-85B3-BCAB58965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09803"/>
            <a:ext cx="7214616" cy="541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83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63A41-5B24-20F7-4BB3-9350B7C923CD}"/>
              </a:ext>
            </a:extLst>
          </p:cNvPr>
          <p:cNvSpPr txBox="1"/>
          <p:nvPr/>
        </p:nvSpPr>
        <p:spPr>
          <a:xfrm>
            <a:off x="493776" y="335846"/>
            <a:ext cx="864793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enum</a:t>
            </a:r>
            <a:r>
              <a:rPr lang="en-US" dirty="0"/>
              <a:t> Color{</a:t>
            </a:r>
          </a:p>
          <a:p>
            <a:r>
              <a:rPr lang="en-US" dirty="0"/>
              <a:t>    RED, GREEN, BLUE;</a:t>
            </a:r>
          </a:p>
          <a:p>
            <a:endParaRPr lang="en-US" dirty="0"/>
          </a:p>
          <a:p>
            <a:r>
              <a:rPr lang="en-US" dirty="0"/>
              <a:t>    private Color(){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("Constructor called for: " + this);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void display(){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("Color is: " + this);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Test{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Color c1 = </a:t>
            </a:r>
            <a:r>
              <a:rPr lang="en-US" dirty="0" err="1"/>
              <a:t>Color.RED</a:t>
            </a:r>
            <a:r>
              <a:rPr lang="en-US" dirty="0"/>
              <a:t>;</a:t>
            </a:r>
          </a:p>
          <a:p>
            <a:r>
              <a:rPr lang="en-US" dirty="0"/>
              <a:t>        c1.display();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8A80F-E0AA-9B1A-9BDF-AD5BC8D4AAE9}"/>
              </a:ext>
            </a:extLst>
          </p:cNvPr>
          <p:cNvSpPr txBox="1"/>
          <p:nvPr/>
        </p:nvSpPr>
        <p:spPr>
          <a:xfrm>
            <a:off x="7162038" y="2674947"/>
            <a:ext cx="609447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1800" b="1" i="0" u="sng" dirty="0">
                <a:effectLst/>
                <a:latin typeface="Consolas" panose="020B0609020204030204" pitchFamily="49" charset="0"/>
              </a:rPr>
              <a:t>OUTPUT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sz="1800" b="0" i="0" dirty="0">
                <a:effectLst/>
                <a:latin typeface="Consolas" panose="020B0609020204030204" pitchFamily="49" charset="0"/>
              </a:rPr>
              <a:t>Constructor called for: RED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sz="1800" b="0" i="0" dirty="0">
                <a:effectLst/>
                <a:latin typeface="Consolas" panose="020B0609020204030204" pitchFamily="49" charset="0"/>
              </a:rPr>
              <a:t>Constructor called for: GREEN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sz="1800" b="0" i="0" dirty="0">
                <a:effectLst/>
                <a:latin typeface="Consolas" panose="020B0609020204030204" pitchFamily="49" charset="0"/>
              </a:rPr>
              <a:t>Constructor called for: BLUE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sz="1800" b="0" i="0" dirty="0">
                <a:effectLst/>
                <a:latin typeface="Consolas" panose="020B0609020204030204" pitchFamily="49" charset="0"/>
              </a:rPr>
              <a:t>Color is: 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E830A-C586-E0BC-55D5-F672C79D72CC}"/>
              </a:ext>
            </a:extLst>
          </p:cNvPr>
          <p:cNvSpPr txBox="1"/>
          <p:nvPr/>
        </p:nvSpPr>
        <p:spPr>
          <a:xfrm>
            <a:off x="7369302" y="787251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30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1:</a:t>
            </a:r>
          </a:p>
        </p:txBody>
      </p:sp>
    </p:spTree>
    <p:extLst>
      <p:ext uri="{BB962C8B-B14F-4D97-AF65-F5344CB8AC3E}">
        <p14:creationId xmlns:p14="http://schemas.microsoft.com/office/powerpoint/2010/main" val="339376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7AD451-B91F-97C8-86D1-364EE5A875EA}"/>
              </a:ext>
            </a:extLst>
          </p:cNvPr>
          <p:cNvSpPr txBox="1"/>
          <p:nvPr/>
        </p:nvSpPr>
        <p:spPr>
          <a:xfrm>
            <a:off x="249174" y="141786"/>
            <a:ext cx="748665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Java program to Illustrate Usage of Enum </a:t>
            </a:r>
          </a:p>
          <a:p>
            <a:r>
              <a:rPr lang="en-US" dirty="0"/>
              <a:t>// Constructor, Instance Variable &amp; Method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// Enum</a:t>
            </a:r>
          </a:p>
          <a:p>
            <a:r>
              <a:rPr lang="en-US" dirty="0" err="1"/>
              <a:t>enum</a:t>
            </a:r>
            <a:r>
              <a:rPr lang="en-US" dirty="0"/>
              <a:t> fruits {</a:t>
            </a:r>
          </a:p>
          <a:p>
            <a:r>
              <a:rPr lang="en-US" dirty="0"/>
              <a:t>    // Attributes associated to </a:t>
            </a:r>
            <a:r>
              <a:rPr lang="en-US" dirty="0" err="1"/>
              <a:t>enum</a:t>
            </a:r>
            <a:endParaRPr lang="en-US" dirty="0"/>
          </a:p>
          <a:p>
            <a:r>
              <a:rPr lang="en-US" dirty="0"/>
              <a:t>    Apple(120),</a:t>
            </a:r>
          </a:p>
          <a:p>
            <a:r>
              <a:rPr lang="en-US" dirty="0"/>
              <a:t>    Kiwi(60),</a:t>
            </a:r>
          </a:p>
          <a:p>
            <a:r>
              <a:rPr lang="en-US" dirty="0"/>
              <a:t>    Banana(20),</a:t>
            </a:r>
          </a:p>
          <a:p>
            <a:r>
              <a:rPr lang="en-US" dirty="0"/>
              <a:t>    Orange(80);</a:t>
            </a:r>
          </a:p>
          <a:p>
            <a:endParaRPr lang="en-US" dirty="0"/>
          </a:p>
          <a:p>
            <a:r>
              <a:rPr lang="en-US" dirty="0"/>
              <a:t>    // internal data</a:t>
            </a:r>
          </a:p>
          <a:p>
            <a:r>
              <a:rPr lang="en-US" dirty="0"/>
              <a:t>    private int price;</a:t>
            </a:r>
          </a:p>
          <a:p>
            <a:endParaRPr lang="en-US" dirty="0"/>
          </a:p>
          <a:p>
            <a:r>
              <a:rPr lang="en-US" dirty="0"/>
              <a:t>    // Constructor</a:t>
            </a:r>
          </a:p>
          <a:p>
            <a:r>
              <a:rPr lang="en-US" dirty="0"/>
              <a:t>    fruits(int pr) { price = pr; }</a:t>
            </a:r>
          </a:p>
          <a:p>
            <a:endParaRPr lang="en-US" dirty="0"/>
          </a:p>
          <a:p>
            <a:r>
              <a:rPr lang="en-US" dirty="0"/>
              <a:t>    // Method</a:t>
            </a:r>
          </a:p>
          <a:p>
            <a:r>
              <a:rPr lang="en-US" dirty="0"/>
              <a:t>    int </a:t>
            </a:r>
            <a:r>
              <a:rPr lang="en-US" dirty="0" err="1"/>
              <a:t>totalPrice</a:t>
            </a:r>
            <a:r>
              <a:rPr lang="en-US" dirty="0"/>
              <a:t>() { return price;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80BE9-8C13-14D3-9AAA-9C711552A263}"/>
              </a:ext>
            </a:extLst>
          </p:cNvPr>
          <p:cNvSpPr txBox="1"/>
          <p:nvPr/>
        </p:nvSpPr>
        <p:spPr>
          <a:xfrm>
            <a:off x="5843016" y="1360902"/>
            <a:ext cx="722147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Main class</a:t>
            </a:r>
          </a:p>
          <a:p>
            <a:r>
              <a:rPr lang="en-US" dirty="0"/>
              <a:t>class Testing {</a:t>
            </a:r>
          </a:p>
          <a:p>
            <a:endParaRPr lang="en-US" dirty="0"/>
          </a:p>
          <a:p>
            <a:r>
              <a:rPr lang="en-US" dirty="0"/>
              <a:t>    // main driver method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// Print statement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("Total price of fruits : ");</a:t>
            </a:r>
          </a:p>
          <a:p>
            <a:endParaRPr lang="en-US" dirty="0"/>
          </a:p>
          <a:p>
            <a:r>
              <a:rPr lang="en-US" dirty="0"/>
              <a:t>        // Iterating using enhanced for each loop</a:t>
            </a:r>
          </a:p>
          <a:p>
            <a:r>
              <a:rPr lang="en-US" dirty="0"/>
              <a:t>        for (fruits f : </a:t>
            </a:r>
            <a:r>
              <a:rPr lang="en-US" dirty="0" err="1"/>
              <a:t>fruits.values</a:t>
            </a:r>
            <a:r>
              <a:rPr lang="en-US" dirty="0"/>
              <a:t>())</a:t>
            </a:r>
          </a:p>
          <a:p>
            <a:endParaRPr lang="en-US" dirty="0"/>
          </a:p>
          <a:p>
            <a:r>
              <a:rPr lang="en-US" dirty="0"/>
              <a:t>            // Print and display the cost and per kg cost of</a:t>
            </a:r>
          </a:p>
          <a:p>
            <a:r>
              <a:rPr lang="en-US" dirty="0"/>
              <a:t>            // fruits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(f + " costs “ + </a:t>
            </a:r>
            <a:r>
              <a:rPr lang="en-US" dirty="0" err="1"/>
              <a:t>f.totalPrice</a:t>
            </a:r>
            <a:r>
              <a:rPr lang="en-US" dirty="0"/>
              <a:t>()</a:t>
            </a:r>
          </a:p>
          <a:p>
            <a:r>
              <a:rPr lang="en-US" dirty="0"/>
              <a:t>                               + " rupees per kg.");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DEF2F-8920-EF2E-521C-EB302271B1C5}"/>
              </a:ext>
            </a:extLst>
          </p:cNvPr>
          <p:cNvSpPr txBox="1"/>
          <p:nvPr/>
        </p:nvSpPr>
        <p:spPr>
          <a:xfrm>
            <a:off x="7352919" y="197346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30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2:</a:t>
            </a:r>
          </a:p>
        </p:txBody>
      </p:sp>
    </p:spTree>
    <p:extLst>
      <p:ext uri="{BB962C8B-B14F-4D97-AF65-F5344CB8AC3E}">
        <p14:creationId xmlns:p14="http://schemas.microsoft.com/office/powerpoint/2010/main" val="1924157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F7E4FCB1512840BAD4581AEB2993C3" ma:contentTypeVersion="3" ma:contentTypeDescription="Create a new document." ma:contentTypeScope="" ma:versionID="10f0c2979c84f4b8d5694e6db59348a1">
  <xsd:schema xmlns:xsd="http://www.w3.org/2001/XMLSchema" xmlns:xs="http://www.w3.org/2001/XMLSchema" xmlns:p="http://schemas.microsoft.com/office/2006/metadata/properties" xmlns:ns2="e8abe1e0-1045-4bfa-861e-7a9dbaef2821" targetNamespace="http://schemas.microsoft.com/office/2006/metadata/properties" ma:root="true" ma:fieldsID="f03fbc09b6120ad92da74c1453aad158" ns2:_="">
    <xsd:import namespace="e8abe1e0-1045-4bfa-861e-7a9dbaef28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be1e0-1045-4bfa-861e-7a9dbaef28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F2EE8F-CD97-42FE-9F6E-AFD181DCE26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15D0089-7135-43CE-9556-46A0459423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be1e0-1045-4bfa-861e-7a9dbaef28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135C55-483D-4777-B28E-B61294EFC2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1208</Words>
  <Application>Microsoft Office PowerPoint</Application>
  <PresentationFormat>Widescreen</PresentationFormat>
  <Paragraphs>208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Times New Roman</vt:lpstr>
      <vt:lpstr>Office Theme</vt:lpstr>
      <vt:lpstr>WEEK 2</vt:lpstr>
      <vt:lpstr>TOPICS TO BE COVERED</vt:lpstr>
      <vt:lpstr>WRAPPER CLASS</vt:lpstr>
      <vt:lpstr>WRAPPER CLASS</vt:lpstr>
      <vt:lpstr>Need for WRAPPER CLASS</vt:lpstr>
      <vt:lpstr>PowerPoint Presentation</vt:lpstr>
      <vt:lpstr>AUTOBOXING AND UNBOXING</vt:lpstr>
      <vt:lpstr>AUTOBOXING AND UNBOXING</vt:lpstr>
      <vt:lpstr>PowerPoint Presentation</vt:lpstr>
      <vt:lpstr>ENUMERATION</vt:lpstr>
      <vt:lpstr>PowerPoint Presentation</vt:lpstr>
      <vt:lpstr>Enum with switch Statement</vt:lpstr>
      <vt:lpstr>Enum methods and constructors</vt:lpstr>
      <vt:lpstr>Enumerations methods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Jayashree Hegde K [MAHE-MIT]</dc:creator>
  <cp:lastModifiedBy>Student</cp:lastModifiedBy>
  <cp:revision>5</cp:revision>
  <dcterms:created xsi:type="dcterms:W3CDTF">2026-01-07T02:50:00Z</dcterms:created>
  <dcterms:modified xsi:type="dcterms:W3CDTF">2026-01-16T03:14:54Z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0x010100C8F7E4FCB1512840BAD4581AEB2993C3</vt:lpwstr>
  </property>
</Properties>
</file>